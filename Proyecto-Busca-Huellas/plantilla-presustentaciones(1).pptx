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2" r:id="rId4"/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Work Sans Medium"/>
      <p:regular r:id="rId25"/>
      <p:bold r:id="rId26"/>
      <p:italic r:id="rId27"/>
      <p:boldItalic r:id="rId28"/>
    </p:embeddedFont>
    <p:embeddedFont>
      <p:font typeface="Work Sans"/>
      <p:regular r:id="rId29"/>
      <p:bold r:id="rId30"/>
      <p:italic r:id="rId31"/>
      <p:boldItalic r:id="rId32"/>
    </p:embeddedFont>
    <p:embeddedFont>
      <p:font typeface="Work Sans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ByzzCgnBCvZpKxi+t3H032m4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WorkSansMedium-bold.fntdata"/><Relationship Id="rId25" Type="http://schemas.openxmlformats.org/officeDocument/2006/relationships/font" Target="fonts/WorkSansMedium-regular.fntdata"/><Relationship Id="rId28" Type="http://schemas.openxmlformats.org/officeDocument/2006/relationships/font" Target="fonts/WorkSansMedium-boldItalic.fntdata"/><Relationship Id="rId27" Type="http://schemas.openxmlformats.org/officeDocument/2006/relationships/font" Target="fonts/WorkSansMedium-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-italic.fntdata"/><Relationship Id="rId30" Type="http://schemas.openxmlformats.org/officeDocument/2006/relationships/font" Target="fonts/WorkSans-bold.fntdata"/><Relationship Id="rId11" Type="http://schemas.openxmlformats.org/officeDocument/2006/relationships/slide" Target="slides/slide5.xml"/><Relationship Id="rId33" Type="http://schemas.openxmlformats.org/officeDocument/2006/relationships/font" Target="fonts/WorkSansLight-regular.fntdata"/><Relationship Id="rId10" Type="http://schemas.openxmlformats.org/officeDocument/2006/relationships/slide" Target="slides/slide4.xml"/><Relationship Id="rId32" Type="http://schemas.openxmlformats.org/officeDocument/2006/relationships/font" Target="fonts/WorkSans-boldItalic.fntdata"/><Relationship Id="rId13" Type="http://schemas.openxmlformats.org/officeDocument/2006/relationships/slide" Target="slides/slide7.xml"/><Relationship Id="rId35" Type="http://schemas.openxmlformats.org/officeDocument/2006/relationships/font" Target="fonts/WorkSansLight-italic.fntdata"/><Relationship Id="rId12" Type="http://schemas.openxmlformats.org/officeDocument/2006/relationships/slide" Target="slides/slide6.xml"/><Relationship Id="rId34" Type="http://schemas.openxmlformats.org/officeDocument/2006/relationships/font" Target="fonts/WorkSansLight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WorkSansLigh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155d56c852_0_4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2155d56c852_0_4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7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99" name="Google Shape;99;p1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4" name="Google Shape;104;p1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1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1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1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p1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7" name="Google Shape;147;p1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1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1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5" name="Google Shape;155;p1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1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1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76" name="Google Shape;176;p1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88" name="Google Shape;188;p1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1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1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1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1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1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1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5" name="Google Shape;225;p1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6" name="Google Shape;226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1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3" name="Google Shape;233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1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1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2" name="Google Shape;92;p1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1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1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1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995422" y="2551837"/>
            <a:ext cx="9477046" cy="1692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Nombre del proyecto.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proyecto.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Equipo responsable.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"/>
          <p:cNvSpPr txBox="1"/>
          <p:nvPr/>
        </p:nvSpPr>
        <p:spPr>
          <a:xfrm>
            <a:off x="3785912" y="515632"/>
            <a:ext cx="46201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6" name="Google Shape;266;p2"/>
          <p:cNvSpPr txBox="1"/>
          <p:nvPr/>
        </p:nvSpPr>
        <p:spPr>
          <a:xfrm>
            <a:off x="4168816" y="2200981"/>
            <a:ext cx="3854368" cy="372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Problema u oportunidad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Solución propuesta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Tecnologías principales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Resultados esperados o alcanzados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Diseño de la base de datos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Ordenamiento de carpetas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Funcionalidades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Reglas del negocio (pruebas)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Conclusiones y próximos pasos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7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Problema u oportunidad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72" name="Google Shape;272;p97"/>
          <p:cNvSpPr/>
          <p:nvPr/>
        </p:nvSpPr>
        <p:spPr>
          <a:xfrm>
            <a:off x="769257" y="1633571"/>
            <a:ext cx="10711543" cy="770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¿Qué necesidad existe? 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¿Qué dificultades tienen actualmente los usuarios o la organización? 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8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b="0" i="0" sz="44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78" name="Google Shape;278;p98"/>
          <p:cNvSpPr/>
          <p:nvPr/>
        </p:nvSpPr>
        <p:spPr>
          <a:xfrm>
            <a:off x="744675" y="1536174"/>
            <a:ext cx="97622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Descripción breve del software.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resuelve el problema?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Principales funcionalidades.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9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4400" u="none" cap="none" strike="noStrike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84" name="Google Shape;284;p99"/>
          <p:cNvSpPr/>
          <p:nvPr/>
        </p:nvSpPr>
        <p:spPr>
          <a:xfrm>
            <a:off x="769257" y="1633571"/>
            <a:ext cx="1071154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Qué incluye el sistema.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Qué procesos o áreas impacta.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0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principales</a:t>
            </a:r>
            <a:endParaRPr b="0" i="0" sz="44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90" name="Google Shape;290;p100"/>
          <p:cNvSpPr/>
          <p:nvPr/>
        </p:nvSpPr>
        <p:spPr>
          <a:xfrm>
            <a:off x="744675" y="1536174"/>
            <a:ext cx="9762299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Herramientas y plataformas utilizadas.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operativo sobre el que opera:</a:t>
            </a:r>
            <a:endParaRPr/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Web Server:</a:t>
            </a:r>
            <a:endParaRPr/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Gestor de base de datos relacional:</a:t>
            </a:r>
            <a:endParaRPr/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 de desarrollo integrado o Editor de código (definir si es entorno o editor):</a:t>
            </a:r>
            <a:endParaRPr/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Frameworks (si se usaron, definir para que se utiliza ese framework):</a:t>
            </a:r>
            <a:endParaRPr/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Lenguajes de programación:</a:t>
            </a:r>
            <a:endParaRPr/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Arquitectura:</a:t>
            </a:r>
            <a:endParaRPr/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de control de versiones:</a:t>
            </a:r>
            <a:endParaRPr/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Metodología de desarrollo: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Aspectos relevantes como seguridad, escalabilidad o acceso web/móvil.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1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Resultados esperados o alcanzados</a:t>
            </a:r>
            <a:endParaRPr/>
          </a:p>
        </p:txBody>
      </p:sp>
      <p:sp>
        <p:nvSpPr>
          <p:cNvPr id="296" name="Google Shape;296;p101"/>
          <p:cNvSpPr/>
          <p:nvPr/>
        </p:nvSpPr>
        <p:spPr>
          <a:xfrm>
            <a:off x="769257" y="1633571"/>
            <a:ext cx="1071154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Indicadores clave.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Impacto en el negocio o la organización.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Logros obtenidos.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2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Diseño de la base de datos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3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Base de datos</a:t>
            </a:r>
            <a:endParaRPr/>
          </a:p>
        </p:txBody>
      </p:sp>
      <p:sp>
        <p:nvSpPr>
          <p:cNvPr id="307" name="Google Shape;307;p103"/>
          <p:cNvSpPr/>
          <p:nvPr/>
        </p:nvSpPr>
        <p:spPr>
          <a:xfrm>
            <a:off x="744675" y="1536174"/>
            <a:ext cx="97622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relacional de la base de datos…(imagen)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Tiempo: Explicación máximo 2 min.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4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Ordenamiento de carpetas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Patrón de diseño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Paradigma de programación</a:t>
            </a:r>
            <a:endParaRPr b="0" i="0" sz="20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5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MVC</a:t>
            </a:r>
            <a:endParaRPr/>
          </a:p>
        </p:txBody>
      </p:sp>
      <p:sp>
        <p:nvSpPr>
          <p:cNvPr id="318" name="Google Shape;318;p105"/>
          <p:cNvSpPr/>
          <p:nvPr/>
        </p:nvSpPr>
        <p:spPr>
          <a:xfrm>
            <a:off x="744675" y="1536174"/>
            <a:ext cx="9762299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Mostrar captura de pantalla donde se señale y explique brevemente el ordenamiento de las carpetas de acuerdo con el MVC y que hace cada sección de los demás complementos, archivos o carpetas adicionales. Ejemplo: La carpeta vendor o el archivo composer.json</a:t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Por otra parte, ingresar brevemente a la codificación y señalar que se esta utilizando el paradigma de programación orientado a objetos preferiblemente.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Tiempo: Máximo 3 min.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6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7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 por módulo</a:t>
            </a:r>
            <a:endParaRPr/>
          </a:p>
        </p:txBody>
      </p:sp>
      <p:sp>
        <p:nvSpPr>
          <p:cNvPr id="329" name="Google Shape;329;p107"/>
          <p:cNvSpPr/>
          <p:nvPr/>
        </p:nvSpPr>
        <p:spPr>
          <a:xfrm>
            <a:off x="744675" y="1536174"/>
            <a:ext cx="9762299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Mostrar un cuadro resumen, en el cual se compile las funcionalidades que se podrán ver en cada módulo y su correspondiente perfil. Ejemplo: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Posteriormente, demostrarán las funcionalidades que permitan verificar que cumplen con el objetivo del proyecto.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Tiempo: Máximo 7 min. (Mostrar el camino feliz)</a:t>
            </a:r>
            <a:endParaRPr/>
          </a:p>
        </p:txBody>
      </p:sp>
      <p:grpSp>
        <p:nvGrpSpPr>
          <p:cNvPr id="330" name="Google Shape;330;p107"/>
          <p:cNvGrpSpPr/>
          <p:nvPr/>
        </p:nvGrpSpPr>
        <p:grpSpPr>
          <a:xfrm>
            <a:off x="840177" y="2332063"/>
            <a:ext cx="2887755" cy="2686806"/>
            <a:chOff x="840211" y="2332023"/>
            <a:chExt cx="3445186" cy="3606935"/>
          </a:xfrm>
        </p:grpSpPr>
        <p:pic>
          <p:nvPicPr>
            <p:cNvPr id="331" name="Google Shape;331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0211" y="2332023"/>
              <a:ext cx="3445186" cy="1672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107"/>
            <p:cNvPicPr preferRelativeResize="0"/>
            <p:nvPr/>
          </p:nvPicPr>
          <p:blipFill rotWithShape="1">
            <a:blip r:embed="rId5">
              <a:alphaModFix/>
            </a:blip>
            <a:srcRect b="24197" l="0" r="22147" t="0"/>
            <a:stretch/>
          </p:blipFill>
          <p:spPr>
            <a:xfrm>
              <a:off x="840211" y="3957157"/>
              <a:ext cx="3445186" cy="19818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8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Reglas del negocio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9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</a:t>
            </a: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del negocio</a:t>
            </a:r>
            <a:endParaRPr b="0" i="0" sz="44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44" name="Google Shape;344;p109"/>
          <p:cNvSpPr/>
          <p:nvPr/>
        </p:nvSpPr>
        <p:spPr>
          <a:xfrm>
            <a:off x="744675" y="1536174"/>
            <a:ext cx="9762299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Listar las principales reglas de negocio y demostrar el funcionamiento de las más críticas.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Ejemplo: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El stock no puede tener menos de 5 productos o vender los últimos 5 productos.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Debe ser mayor de edad para registrarse.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❑"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 realizan los pedidos si el estado de pago es Pagado.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Tiempo: Máximo 5 min.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0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 y próximos pasos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0"/>
          <p:cNvSpPr/>
          <p:nvPr/>
        </p:nvSpPr>
        <p:spPr>
          <a:xfrm>
            <a:off x="744675" y="1536174"/>
            <a:ext cx="97622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Resumen de los beneficios.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Recomendaciones.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Futuras mejoras.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355" name="Google Shape;355;g2155d56c852_0_4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1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Tiempo: Máximo 5 min.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